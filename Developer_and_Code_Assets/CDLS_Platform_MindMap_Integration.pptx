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_SLID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0"/>
            <a:ext cx="8229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CA DEALER LOGISTICS PLATFORM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457200" y="29260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i="1" dirty="0">
                <a:solidFill>
                  <a:srgbClr val="F9E7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Integrated System Architecture &amp; Roadmap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36576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Zero-Emission Logistics • Energy Banking • AI Automation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57200" y="62179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February 2026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65A8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Platform Overview: Four Integrated Systems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4114800" cy="2377440"/>
          </a:xfrm>
          <a:prstGeom prst="rect">
            <a:avLst/>
          </a:prstGeom>
          <a:solidFill>
            <a:srgbClr val="FFFFFF"/>
          </a:solidFill>
          <a:ln w="38100">
            <a:solidFill>
              <a:srgbClr val="065A8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" y="1325880"/>
            <a:ext cx="457200" cy="45720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5" name="Text 3"/>
          <p:cNvSpPr/>
          <p:nvPr/>
        </p:nvSpPr>
        <p:spPr>
          <a:xfrm>
            <a:off x="1188720" y="132588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5A8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1. ZERO-EMISSION HAULING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40080" y="1691640"/>
            <a:ext cx="3749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Logistics Platform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40080" y="201168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9-vehicle capacity (vs 8 industry standard)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640080" y="233172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Tesla Semi + lightweight aluminum trailers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640080" y="265176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$150K additional annual revenue per trailer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640080" y="297180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18-24% IRR for institutional investors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029200" y="1188720"/>
            <a:ext cx="4114800" cy="2377440"/>
          </a:xfrm>
          <a:prstGeom prst="rect">
            <a:avLst/>
          </a:prstGeom>
          <a:solidFill>
            <a:srgbClr val="FFFFFF"/>
          </a:solidFill>
          <a:ln w="38100">
            <a:solidFill>
              <a:srgbClr val="1C7293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212080" y="1325880"/>
            <a:ext cx="457200" cy="45720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3" name="Text 11"/>
          <p:cNvSpPr/>
          <p:nvPr/>
        </p:nvSpPr>
        <p:spPr>
          <a:xfrm>
            <a:off x="5760720" y="132588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7293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2. ENERGY BANKING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5212080" y="1691640"/>
            <a:ext cx="3749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V2G Revenue Stream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212080" y="201168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CESAR autonomous controller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5212080" y="233172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Settlement Gate technology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5212080" y="265176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CAISO/SMUD demand response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5212080" y="297180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Peak demand arbitrage revenue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57200" y="3840480"/>
            <a:ext cx="4114800" cy="2377440"/>
          </a:xfrm>
          <a:prstGeom prst="rect">
            <a:avLst/>
          </a:prstGeom>
          <a:solidFill>
            <a:srgbClr val="FFFFFF"/>
          </a:solidFill>
          <a:ln w="38100">
            <a:solidFill>
              <a:srgbClr val="00A896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40080" y="3977640"/>
            <a:ext cx="457200" cy="45720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21" name="Text 19"/>
          <p:cNvSpPr/>
          <p:nvPr/>
        </p:nvSpPr>
        <p:spPr>
          <a:xfrm>
            <a:off x="1188720" y="397764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A89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3. AI AGENT ECOSYSTEM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640080" y="4343400"/>
            <a:ext cx="3749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Specialized Agents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40080" y="466344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Local Ollama deployment (llama3.2:3b)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640080" y="498348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Route optimization, compliance, carbon calc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640080" y="530352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$149.5K annual API cost savings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640080" y="562356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Data sovereignty &amp; independence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5029200" y="3840480"/>
            <a:ext cx="4114800" cy="2377440"/>
          </a:xfrm>
          <a:prstGeom prst="rect">
            <a:avLst/>
          </a:prstGeom>
          <a:solidFill>
            <a:srgbClr val="FFFFFF"/>
          </a:solidFill>
          <a:ln w="38100">
            <a:solidFill>
              <a:srgbClr val="21295C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5212080" y="3977640"/>
            <a:ext cx="457200" cy="457200"/>
          </a:xfrm>
          <a:prstGeom prst="ellipse">
            <a:avLst/>
          </a:prstGeom>
          <a:solidFill>
            <a:srgbClr val="21295C"/>
          </a:solidFill>
          <a:ln/>
        </p:spPr>
      </p:sp>
      <p:sp>
        <p:nvSpPr>
          <p:cNvPr id="29" name="Text 27"/>
          <p:cNvSpPr/>
          <p:nvPr/>
        </p:nvSpPr>
        <p:spPr>
          <a:xfrm>
            <a:off x="5760720" y="397764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1295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4. TOKENIZATION LAYER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5212080" y="4343400"/>
            <a:ext cx="3749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Three-Token Ecosystem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5212080" y="466344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$CDLS governance, $HAUL utility, $CARBON credits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5212080" y="498348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Network effects acceleration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5212080" y="530352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1,000 dealers → 5,000 dealers (3 years)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5212080" y="562356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Automated compliance &amp; settlements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65A8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Financial Architecture &amp; Investment Structure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4114800" cy="5029200"/>
          </a:xfrm>
          <a:prstGeom prst="rect">
            <a:avLst/>
          </a:prstGeom>
          <a:solidFill>
            <a:srgbClr val="F2F2F2"/>
          </a:solidFill>
          <a:ln w="25400">
            <a:solidFill>
              <a:srgbClr val="065A8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1371600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65A8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CALIFORNIA INVESTMENT AUTO, LP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40080" y="182880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Delaware Limited Partnership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22960" y="237744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Minimum Offering: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2743200" y="2377440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$3.75M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822960" y="283464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Maximum Offering: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743200" y="2834640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$10M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822960" y="329184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Founding Partners: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2743200" y="3291840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dealers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22960" y="374904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Lock-Up Period: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2743200" y="3749040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36 months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822960" y="420624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IRR: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2743200" y="4206240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18-24%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822960" y="466344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Savings: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2743200" y="4663440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30-50%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822960" y="484632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Investment Tiers: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822960" y="5166360"/>
            <a:ext cx="3749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Bronze: $150K  • Silver: $300K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Gold: $500K  • Platinum: $1M+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5029200" y="1188720"/>
            <a:ext cx="4114800" cy="5029200"/>
          </a:xfrm>
          <a:prstGeom prst="rect">
            <a:avLst/>
          </a:prstGeom>
          <a:solidFill>
            <a:srgbClr val="FFFFFF"/>
          </a:solidFill>
          <a:ln w="25400">
            <a:solidFill>
              <a:srgbClr val="1C7293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212080" y="1371600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C7293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REVENUE STREAMS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5212080" y="2011680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Hauling Services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5212080" y="2267712"/>
            <a:ext cx="3749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$24.68/haul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5212080" y="2496312"/>
            <a:ext cx="3749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14.2 hauls/dealer/month avg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5212080" y="2926080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Carbon Credits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5212080" y="3182112"/>
            <a:ext cx="3749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$24.68/haul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5212080" y="3410712"/>
            <a:ext cx="3749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0.29 MT CO₂ saved per haul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5212080" y="3840480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Energy Banking (V2G)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5212080" y="4096512"/>
            <a:ext cx="3749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5212080" y="4325112"/>
            <a:ext cx="3749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Peak demand arbitrage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5212080" y="4754880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 Appreciation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5212080" y="5010912"/>
            <a:ext cx="3749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 effects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5212080" y="5239512"/>
            <a:ext cx="3749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$CDLS governance growth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5212080" y="5669280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Services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5212080" y="5925312"/>
            <a:ext cx="3749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revenue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5212080" y="6153912"/>
            <a:ext cx="3749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Logistics intelligence platform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65A8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AI Agent Ecosystem: Five Specialized Agents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4114800" cy="1828800"/>
          </a:xfrm>
          <a:prstGeom prst="rect">
            <a:avLst/>
          </a:prstGeom>
          <a:solidFill>
            <a:srgbClr val="F2F2F2"/>
          </a:solidFill>
          <a:ln w="25400">
            <a:solidFill>
              <a:srgbClr val="00A89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132588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65A8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Dealer Onboarding Agent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40080" y="1673352"/>
            <a:ext cx="1828800" cy="256032"/>
          </a:xfrm>
          <a:prstGeom prst="rect">
            <a:avLst/>
          </a:prstGeom>
          <a:solidFill>
            <a:srgbClr val="1C729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1673352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Acquisition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640080" y="2011680"/>
            <a:ext cx="3749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48-hour onboarding (vs 30-day industry)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640080" y="2240280"/>
            <a:ext cx="3749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Automated KYC/AML compliance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640080" y="2468880"/>
            <a:ext cx="3749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Integration with CDK Global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640080" y="2697480"/>
            <a:ext cx="3749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Document generation &amp; e-signature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5029200" y="1188720"/>
            <a:ext cx="4114800" cy="1828800"/>
          </a:xfrm>
          <a:prstGeom prst="rect">
            <a:avLst/>
          </a:prstGeom>
          <a:solidFill>
            <a:srgbClr val="F2F2F2"/>
          </a:solidFill>
          <a:ln w="25400">
            <a:solidFill>
              <a:srgbClr val="00A89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212080" y="132588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65A8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Route Optimization Agent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212080" y="1673352"/>
            <a:ext cx="1828800" cy="256032"/>
          </a:xfrm>
          <a:prstGeom prst="rect">
            <a:avLst/>
          </a:prstGeom>
          <a:solidFill>
            <a:srgbClr val="1C729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212080" y="1673352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Operations Excellence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5212080" y="2011680"/>
            <a:ext cx="3749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97.3% route accuracy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5212080" y="2240280"/>
            <a:ext cx="3749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Real-time traffic integration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5212080" y="2468880"/>
            <a:ext cx="3749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Multi-stop optimization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5212080" y="2697480"/>
            <a:ext cx="3749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Driver assignment &amp; load balancing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457200" y="3291840"/>
            <a:ext cx="4114800" cy="1828800"/>
          </a:xfrm>
          <a:prstGeom prst="rect">
            <a:avLst/>
          </a:prstGeom>
          <a:solidFill>
            <a:srgbClr val="F2F2F2"/>
          </a:solidFill>
          <a:ln w="25400">
            <a:solidFill>
              <a:srgbClr val="00A89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0080" y="342900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65A8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Compliance Monitoring Agent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640080" y="3776472"/>
            <a:ext cx="1828800" cy="256032"/>
          </a:xfrm>
          <a:prstGeom prst="rect">
            <a:avLst/>
          </a:prstGeom>
          <a:solidFill>
            <a:srgbClr val="1C729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40080" y="3776472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Regulatory Automation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640080" y="4114800"/>
            <a:ext cx="3749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Zero-touch CARB reporting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640080" y="4343400"/>
            <a:ext cx="3749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ACF regulation tracking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640080" y="4572000"/>
            <a:ext cx="3749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Automated audit trails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640080" y="4800600"/>
            <a:ext cx="3749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Real-time compliance scoring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5029200" y="3291840"/>
            <a:ext cx="4114800" cy="1828800"/>
          </a:xfrm>
          <a:prstGeom prst="rect">
            <a:avLst/>
          </a:prstGeom>
          <a:solidFill>
            <a:srgbClr val="F2F2F2"/>
          </a:solidFill>
          <a:ln w="25400">
            <a:solidFill>
              <a:srgbClr val="00A896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212080" y="342900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65A8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Carbon Credit Calculation Agent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5212080" y="3776472"/>
            <a:ext cx="1828800" cy="256032"/>
          </a:xfrm>
          <a:prstGeom prst="rect">
            <a:avLst/>
          </a:prstGeom>
          <a:solidFill>
            <a:srgbClr val="1C729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212080" y="3776472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Environmental Revenue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5212080" y="4114800"/>
            <a:ext cx="3749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Automated emissions tracking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5212080" y="4343400"/>
            <a:ext cx="3749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Verra VCS certification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5212080" y="4572000"/>
            <a:ext cx="3749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$CARBON token minting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5212080" y="4800600"/>
            <a:ext cx="3749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Secondary market integration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457200" y="5394960"/>
            <a:ext cx="4114800" cy="1828800"/>
          </a:xfrm>
          <a:prstGeom prst="rect">
            <a:avLst/>
          </a:prstGeom>
          <a:solidFill>
            <a:srgbClr val="F2F2F2"/>
          </a:solidFill>
          <a:ln w="25400">
            <a:solidFill>
              <a:srgbClr val="00A896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40080" y="553212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65A8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Financial Analytics Agent</a:t>
            </a:r>
            <a:endParaRPr lang="en-US" sz="1300" dirty="0"/>
          </a:p>
        </p:txBody>
      </p:sp>
      <p:sp>
        <p:nvSpPr>
          <p:cNvPr id="37" name="Shape 35"/>
          <p:cNvSpPr/>
          <p:nvPr/>
        </p:nvSpPr>
        <p:spPr>
          <a:xfrm>
            <a:off x="640080" y="5879592"/>
            <a:ext cx="1828800" cy="256032"/>
          </a:xfrm>
          <a:prstGeom prst="rect">
            <a:avLst/>
          </a:prstGeom>
          <a:solidFill>
            <a:srgbClr val="1C729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40080" y="5879592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Intelligence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640080" y="6217920"/>
            <a:ext cx="3749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Real-time P&amp;L dashboards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640080" y="6446520"/>
            <a:ext cx="3749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Investor reporting automation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640080" y="6675120"/>
            <a:ext cx="3749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Predictive revenue modeling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640080" y="6903720"/>
            <a:ext cx="3749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Tax optimization analysis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457200" y="59436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Stack: Ollama local deployment • llama3.2:3b • Node.js microservices • PostgreSQL • Docker orchestration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65A8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CESAR: Coordinated Energy &amp; Social Asset Resource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4114800" cy="2926080"/>
          </a:xfrm>
          <a:prstGeom prst="rect">
            <a:avLst/>
          </a:prstGeom>
          <a:solidFill>
            <a:srgbClr val="FFFFFF"/>
          </a:solidFill>
          <a:ln w="25400">
            <a:solidFill>
              <a:srgbClr val="065A8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137160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65A8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AUTONOMOUS CONTROLLER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822960" y="182880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Settlement Gate Technology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822960" y="219456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Real-time CAISO integration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22960" y="256032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SMUD interconnection protocol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822960" y="292608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Battery state-of-charge optimization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822960" y="329184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Demand response automation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822960" y="365760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Grid services revenue capture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029200" y="1188720"/>
            <a:ext cx="4114800" cy="2926080"/>
          </a:xfrm>
          <a:prstGeom prst="rect">
            <a:avLst/>
          </a:prstGeom>
          <a:solidFill>
            <a:srgbClr val="F2F2F2"/>
          </a:solidFill>
          <a:ln w="25400">
            <a:solidFill>
              <a:srgbClr val="1C729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212080" y="137160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C7293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V2G REVENUE STREAMS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5212080" y="182880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Peak Demand Response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7589520" y="1828800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 pricing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5212080" y="228600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Frequency Regulation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7589520" y="2286000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Grid stability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5212080" y="274320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Capacity Payments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7589520" y="2743200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Availability fees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5212080" y="320040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Energy Arbitrage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7589520" y="3200400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Buy low/sell high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212080" y="365760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Ancillary Services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7589520" y="3657600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Grid support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57200" y="42976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A89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INTEGRATION LAYER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731520" y="4754880"/>
            <a:ext cx="1371600" cy="548640"/>
          </a:xfrm>
          <a:prstGeom prst="rect">
            <a:avLst/>
          </a:prstGeom>
          <a:solidFill>
            <a:srgbClr val="00A89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31520" y="4754880"/>
            <a:ext cx="1371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CAISO API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2286000" y="4754880"/>
            <a:ext cx="1371600" cy="548640"/>
          </a:xfrm>
          <a:prstGeom prst="rect">
            <a:avLst/>
          </a:prstGeom>
          <a:solidFill>
            <a:srgbClr val="00A89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286000" y="4754880"/>
            <a:ext cx="1371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SMUD Grid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3840480" y="4754880"/>
            <a:ext cx="1371600" cy="548640"/>
          </a:xfrm>
          <a:prstGeom prst="rect">
            <a:avLst/>
          </a:prstGeom>
          <a:solidFill>
            <a:srgbClr val="00A89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840480" y="4754880"/>
            <a:ext cx="1371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Tesla Fleet API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5394960" y="4754880"/>
            <a:ext cx="1371600" cy="548640"/>
          </a:xfrm>
          <a:prstGeom prst="rect">
            <a:avLst/>
          </a:prstGeom>
          <a:solidFill>
            <a:srgbClr val="00A89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394960" y="4754880"/>
            <a:ext cx="1371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Settlement Gate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6949440" y="4754880"/>
            <a:ext cx="1371600" cy="548640"/>
          </a:xfrm>
          <a:prstGeom prst="rect">
            <a:avLst/>
          </a:prstGeom>
          <a:solidFill>
            <a:srgbClr val="00A89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949440" y="4754880"/>
            <a:ext cx="1371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Blockchain Ledger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457200" y="57607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Patent Applications: Energy Bank Settlement System • Settlement Gate Technology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65A8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Three-Token Ecosystem: Network Effects Acceleration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2743200" cy="4114800"/>
          </a:xfrm>
          <a:prstGeom prst="rect">
            <a:avLst/>
          </a:prstGeom>
          <a:solidFill>
            <a:srgbClr val="FFFFFF"/>
          </a:solidFill>
          <a:ln w="38100">
            <a:solidFill>
              <a:srgbClr val="065A8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43000" y="1371600"/>
            <a:ext cx="1371600" cy="137160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5" name="Text 3"/>
          <p:cNvSpPr/>
          <p:nvPr/>
        </p:nvSpPr>
        <p:spPr>
          <a:xfrm>
            <a:off x="1143000" y="1371600"/>
            <a:ext cx="1371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$CDLS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640080" y="292608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65A8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Governance Token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40080" y="3383280"/>
            <a:ext cx="2377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Equity-like appreciation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640080" y="3675888"/>
            <a:ext cx="2377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Platform voting rights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640080" y="3968496"/>
            <a:ext cx="2377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Revenue share participation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640080" y="4261104"/>
            <a:ext cx="2377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4-year vest, 1-year cliff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640080" y="4553712"/>
            <a:ext cx="2377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Distribution: 20% investors, 30% founders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3474720" y="1188720"/>
            <a:ext cx="2743200" cy="4114800"/>
          </a:xfrm>
          <a:prstGeom prst="rect">
            <a:avLst/>
          </a:prstGeom>
          <a:solidFill>
            <a:srgbClr val="FFFFFF"/>
          </a:solidFill>
          <a:ln w="38100">
            <a:solidFill>
              <a:srgbClr val="1C7293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160520" y="1371600"/>
            <a:ext cx="1371600" cy="137160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4" name="Text 12"/>
          <p:cNvSpPr/>
          <p:nvPr/>
        </p:nvSpPr>
        <p:spPr>
          <a:xfrm>
            <a:off x="4160520" y="1371600"/>
            <a:ext cx="1371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$HAUL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3657600" y="292608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C7293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Utility Token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3657600" y="3383280"/>
            <a:ext cx="2377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Transactional medium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3657600" y="3675888"/>
            <a:ext cx="2377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Deflationary burn (0.5% per txn)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3657600" y="3968496"/>
            <a:ext cx="2377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Staking for premium services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3657600" y="4261104"/>
            <a:ext cx="2377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Payment for logistics services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3657600" y="4553712"/>
            <a:ext cx="2377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Network access &amp; discounts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6492240" y="1188720"/>
            <a:ext cx="2743200" cy="4114800"/>
          </a:xfrm>
          <a:prstGeom prst="rect">
            <a:avLst/>
          </a:prstGeom>
          <a:solidFill>
            <a:srgbClr val="FFFFFF"/>
          </a:solidFill>
          <a:ln w="38100">
            <a:solidFill>
              <a:srgbClr val="00A896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178040" y="1371600"/>
            <a:ext cx="1371600" cy="137160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23" name="Text 21"/>
          <p:cNvSpPr/>
          <p:nvPr/>
        </p:nvSpPr>
        <p:spPr>
          <a:xfrm>
            <a:off x="7178040" y="1371600"/>
            <a:ext cx="1371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$CARBON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6675120" y="292608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A89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Carbon Credit Token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6675120" y="3383280"/>
            <a:ext cx="2377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Real-world asset backing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6675120" y="3675888"/>
            <a:ext cx="2377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Auto-minted upon haul completion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6675120" y="3968496"/>
            <a:ext cx="2377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Verra VCS certified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6675120" y="4261104"/>
            <a:ext cx="2377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Secondary market tradeable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6675120" y="4553712"/>
            <a:ext cx="2377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0.29 MT CO₂ per haul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457200" y="55778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1295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PROJECTED GROWTH ACCELERATION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457200" y="589788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Traditional Model: 1,000 dealers over 10 years  |  Tokenization Model: 5,000 dealers in 3 years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65A8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Regulatory Framework &amp; Compliance Automation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8229600" cy="640080"/>
          </a:xfrm>
          <a:prstGeom prst="rect">
            <a:avLst/>
          </a:prstGeom>
          <a:solidFill>
            <a:srgbClr val="F2F2F2"/>
          </a:solidFill>
          <a:ln w="25400">
            <a:solidFill>
              <a:srgbClr val="065A8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1280160"/>
            <a:ext cx="3200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65A8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Advanced Clean Fleets (ACF)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3931920" y="1280160"/>
            <a:ext cx="2011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2035 mandate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035040" y="1280160"/>
            <a:ext cx="2926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Zero-emission hauling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57200" y="1965960"/>
            <a:ext cx="8229600" cy="640080"/>
          </a:xfrm>
          <a:prstGeom prst="rect">
            <a:avLst/>
          </a:prstGeom>
          <a:solidFill>
            <a:srgbClr val="F2F2F2"/>
          </a:solidFill>
          <a:ln w="25400">
            <a:solidFill>
              <a:srgbClr val="1C729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2057400"/>
            <a:ext cx="3200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7293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CARB LCFS Credits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931920" y="2057400"/>
            <a:ext cx="2011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Ongoing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035040" y="2057400"/>
            <a:ext cx="2926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Carbon credit monetization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57200" y="2743200"/>
            <a:ext cx="8229600" cy="640080"/>
          </a:xfrm>
          <a:prstGeom prst="rect">
            <a:avLst/>
          </a:prstGeom>
          <a:solidFill>
            <a:srgbClr val="F2F2F2"/>
          </a:solidFill>
          <a:ln w="25400">
            <a:solidFill>
              <a:srgbClr val="00A89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0080" y="2834640"/>
            <a:ext cx="3200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A89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HVIP Vouchers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931920" y="2834640"/>
            <a:ext cx="2011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 9, 2026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035040" y="2834640"/>
            <a:ext cx="2926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$330K per Semi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57200" y="3520440"/>
            <a:ext cx="8229600" cy="640080"/>
          </a:xfrm>
          <a:prstGeom prst="rect">
            <a:avLst/>
          </a:prstGeom>
          <a:solidFill>
            <a:srgbClr val="F2F2F2"/>
          </a:solidFill>
          <a:ln w="25400">
            <a:solidFill>
              <a:srgbClr val="21295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0080" y="3611880"/>
            <a:ext cx="3200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1295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CA Competes Tax Credit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3931920" y="3611880"/>
            <a:ext cx="2011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 2-16, 2026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035040" y="3611880"/>
            <a:ext cx="2926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$1.22M over 5 years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57200" y="43891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A89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AUTOMATED COMPLIANCE SYSTEMS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731520" y="4846320"/>
            <a:ext cx="2468880" cy="457200"/>
          </a:xfrm>
          <a:prstGeom prst="rect">
            <a:avLst/>
          </a:prstGeom>
          <a:solidFill>
            <a:srgbClr val="00A89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31520" y="484632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CARB reporting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3474720" y="4846320"/>
            <a:ext cx="2468880" cy="457200"/>
          </a:xfrm>
          <a:prstGeom prst="rect">
            <a:avLst/>
          </a:prstGeom>
          <a:solidFill>
            <a:srgbClr val="00A89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474720" y="484632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Blockchain audit trails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6217920" y="4846320"/>
            <a:ext cx="2468880" cy="457200"/>
          </a:xfrm>
          <a:prstGeom prst="rect">
            <a:avLst/>
          </a:prstGeom>
          <a:solidFill>
            <a:srgbClr val="00A89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217920" y="484632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tax filings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731520" y="5486400"/>
            <a:ext cx="2468880" cy="457200"/>
          </a:xfrm>
          <a:prstGeom prst="rect">
            <a:avLst/>
          </a:prstGeom>
          <a:solidFill>
            <a:srgbClr val="00A89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31520" y="548640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Zero-touch documentation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3474720" y="5486400"/>
            <a:ext cx="2468880" cy="457200"/>
          </a:xfrm>
          <a:prstGeom prst="rect">
            <a:avLst/>
          </a:prstGeom>
          <a:solidFill>
            <a:srgbClr val="00A89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474720" y="548640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Regulatory change alerts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6217920" y="5486400"/>
            <a:ext cx="2468880" cy="457200"/>
          </a:xfrm>
          <a:prstGeom prst="rect">
            <a:avLst/>
          </a:prstGeom>
          <a:solidFill>
            <a:srgbClr val="00A89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217920" y="548640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 scoring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65A8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Implementation Roadmap: 12-Month Timeline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8229600" cy="457200"/>
          </a:xfrm>
          <a:prstGeom prst="rect">
            <a:avLst/>
          </a:prstGeom>
          <a:solidFill>
            <a:srgbClr val="065A8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1234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Phase 1: Foundation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943600" y="123444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i="1" dirty="0">
                <a:solidFill>
                  <a:srgbClr val="F9E7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Months 1-3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22960" y="1737360"/>
            <a:ext cx="7589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CalPERS investor commitment ($5M)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822960" y="1993392"/>
            <a:ext cx="7589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AI agent deployment (Ollama infrastructure)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822960" y="2249424"/>
            <a:ext cx="7589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Delaware LP formation &amp; legal docs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822960" y="2505456"/>
            <a:ext cx="7589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First 5 founding dealer onboarding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57200" y="2743200"/>
            <a:ext cx="8229600" cy="457200"/>
          </a:xfrm>
          <a:prstGeom prst="rect">
            <a:avLst/>
          </a:prstGeom>
          <a:solidFill>
            <a:srgbClr val="1C729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" y="278892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Phase 2: Infrastructure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943600" y="278892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i="1" dirty="0">
                <a:solidFill>
                  <a:srgbClr val="F9E7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Months 4-6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822960" y="3291840"/>
            <a:ext cx="7589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HVIP voucher applications (Sep 2026)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822960" y="3547872"/>
            <a:ext cx="7589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Tesla Semi fleet procurement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822960" y="3803904"/>
            <a:ext cx="7589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SMUD grid interconnection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822960" y="4059936"/>
            <a:ext cx="7589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Blockchain smart contract deployment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57200" y="4297680"/>
            <a:ext cx="8229600" cy="457200"/>
          </a:xfrm>
          <a:prstGeom prst="rect">
            <a:avLst/>
          </a:prstGeom>
          <a:solidFill>
            <a:srgbClr val="00A89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0080" y="434340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Phase 3: Operations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5943600" y="434340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i="1" dirty="0">
                <a:solidFill>
                  <a:srgbClr val="F9E7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Months 7-9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822960" y="4846320"/>
            <a:ext cx="7589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First revenue-generating hauls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822960" y="5102352"/>
            <a:ext cx="7589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Carbon credit certification (Verra)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822960" y="5358384"/>
            <a:ext cx="7589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V2G demand response activation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822960" y="5614416"/>
            <a:ext cx="7589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Expand to 15 dealers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57200" y="5852160"/>
            <a:ext cx="8229600" cy="457200"/>
          </a:xfrm>
          <a:prstGeom prst="rect">
            <a:avLst/>
          </a:prstGeom>
          <a:solidFill>
            <a:srgbClr val="21295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40080" y="58978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Phase 4: Scale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5943600" y="589788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i="1" dirty="0">
                <a:solidFill>
                  <a:srgbClr val="F9E7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Months 10-12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822960" y="6400800"/>
            <a:ext cx="7589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Achieve 1,000 hauls/month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822960" y="6656832"/>
            <a:ext cx="7589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Token ecosystem launch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822960" y="6912864"/>
            <a:ext cx="7589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CNCDA partnership activation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822960" y="7168896"/>
            <a:ext cx="7589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Target 20 founding dealers complete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9144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IMMEDIATE NEXT STEPS</a:t>
            </a:r>
            <a:endParaRPr lang="en-US" sz="4400" dirty="0"/>
          </a:p>
        </p:txBody>
      </p:sp>
      <p:sp>
        <p:nvSpPr>
          <p:cNvPr id="3" name="Shape 1"/>
          <p:cNvSpPr/>
          <p:nvPr/>
        </p:nvSpPr>
        <p:spPr>
          <a:xfrm>
            <a:off x="457200" y="2011680"/>
            <a:ext cx="8229600" cy="594360"/>
          </a:xfrm>
          <a:prstGeom prst="rect">
            <a:avLst/>
          </a:prstGeom>
          <a:solidFill>
            <a:srgbClr val="F2F2F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48640" y="2103120"/>
            <a:ext cx="914400" cy="274320"/>
          </a:xfrm>
          <a:prstGeom prst="rect">
            <a:avLst/>
          </a:prstGeom>
          <a:solidFill>
            <a:srgbClr val="F9616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21031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554480" y="2084832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 Competes Tax Credit Application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389120" y="2084832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March 2-16, 2026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852160" y="2084832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Finance Team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7315200" y="2084832"/>
            <a:ext cx="1280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$1.22M over 5 years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457200" y="2697480"/>
            <a:ext cx="8229600" cy="594360"/>
          </a:xfrm>
          <a:prstGeom prst="rect">
            <a:avLst/>
          </a:prstGeom>
          <a:solidFill>
            <a:srgbClr val="F2F2F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48640" y="2788920"/>
            <a:ext cx="914400" cy="274320"/>
          </a:xfrm>
          <a:prstGeom prst="rect">
            <a:avLst/>
          </a:prstGeom>
          <a:solidFill>
            <a:srgbClr val="F9616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48640" y="27889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554480" y="2770632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HVIP Voucher Reservation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389120" y="2770632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September 9, 2026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5852160" y="2770632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Operations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7315200" y="2770632"/>
            <a:ext cx="1280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$330K per Tesla Semi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457200" y="3383280"/>
            <a:ext cx="8229600" cy="594360"/>
          </a:xfrm>
          <a:prstGeom prst="rect">
            <a:avLst/>
          </a:prstGeom>
          <a:solidFill>
            <a:srgbClr val="F2F2F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48640" y="3474720"/>
            <a:ext cx="914400" cy="274320"/>
          </a:xfrm>
          <a:prstGeom prst="rect">
            <a:avLst/>
          </a:prstGeom>
          <a:solidFill>
            <a:srgbClr val="F9E79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48640" y="34747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554480" y="3456432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CalPERS Investor Presentations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389120" y="3456432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 2026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5852160" y="3456432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CEO/CFO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7315200" y="3456432"/>
            <a:ext cx="1280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$5M institutional commitment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457200" y="4069080"/>
            <a:ext cx="8229600" cy="594360"/>
          </a:xfrm>
          <a:prstGeom prst="rect">
            <a:avLst/>
          </a:prstGeom>
          <a:solidFill>
            <a:srgbClr val="F2F2F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48640" y="4160520"/>
            <a:ext cx="914400" cy="274320"/>
          </a:xfrm>
          <a:prstGeom prst="rect">
            <a:avLst/>
          </a:prstGeom>
          <a:solidFill>
            <a:srgbClr val="F9E79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48640" y="4160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1554480" y="4142232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SMUD Interconnection Process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4389120" y="4142232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 2026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5852160" y="4142232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Team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7315200" y="4142232"/>
            <a:ext cx="1280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V2G revenue enablement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457200" y="4754880"/>
            <a:ext cx="8229600" cy="594360"/>
          </a:xfrm>
          <a:prstGeom prst="rect">
            <a:avLst/>
          </a:prstGeom>
          <a:solidFill>
            <a:srgbClr val="F2F2F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548640" y="4846320"/>
            <a:ext cx="914400" cy="274320"/>
          </a:xfrm>
          <a:prstGeom prst="rect">
            <a:avLst/>
          </a:prstGeom>
          <a:solidFill>
            <a:srgbClr val="84B59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48640" y="48463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1554480" y="4828032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 Auditor Agent Deployment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4389120" y="4828032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 2026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5852160" y="4828032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COO/Auditor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7315200" y="4828032"/>
            <a:ext cx="1280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Rebecca McNeil support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457200" y="5440680"/>
            <a:ext cx="8229600" cy="594360"/>
          </a:xfrm>
          <a:prstGeom prst="rect">
            <a:avLst/>
          </a:prstGeom>
          <a:solidFill>
            <a:srgbClr val="F2F2F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548640" y="5532120"/>
            <a:ext cx="914400" cy="274320"/>
          </a:xfrm>
          <a:prstGeom prst="rect">
            <a:avLst/>
          </a:prstGeom>
          <a:solidFill>
            <a:srgbClr val="84B59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48640" y="55321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1554480" y="5513832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Patent Applications Filing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4389120" y="5513832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 2026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5852160" y="5513832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Legal Counsel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7315200" y="5513832"/>
            <a:ext cx="1280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 protection (Energy Bank, Settlement Gate)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65A8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PLATFORM INTEGRATION COMPLETE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457200" y="27432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F9E7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Zero-Emission Hauling + Energy Banking + AI Automation + Tokenization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57200" y="38404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California Investment Auto, LP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57200" y="438912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Julio McNeil, CEO &amp; Managing Partner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Rebecca McNeil, COO &amp; State Auditor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James Wood, Incoming CEO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56692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9E7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inquiries: investor.relations@californiadealerlogistics.com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2026-02-06T01:05:01Z</dcterms:created>
  <dcterms:modified xsi:type="dcterms:W3CDTF">2026-02-06T01:05:01Z</dcterms:modified>
</cp:coreProperties>
</file>